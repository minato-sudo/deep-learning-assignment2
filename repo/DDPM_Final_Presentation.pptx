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43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572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DDPM
1000 steps
(A2)</c:v>
                  </c:pt>
                  <c:pt idx="1">
                    <c:v>DDIM
10 steps
(A2)</c:v>
                  </c:pt>
                  <c:pt idx="2">
                    <c:v>DDIM
1 step
(A2)</c:v>
                  </c:pt>
                  <c:pt idx="3">
                    <c:v>DDIM
200 steps
(Optimal)</c:v>
                  </c:pt>
                  <c:pt idx="4">
                    <c:v>DDIM
eta=0
10 steps</c:v>
                  </c:pt>
                  <c:pt idx="5">
                    <c:v>DDIM
eta=1.0
10 steps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20.91</c:v>
                </c:pt>
                <c:pt idx="1">
                  <c:v>38.69</c:v>
                </c:pt>
                <c:pt idx="2">
                  <c:v>462.11</c:v>
                </c:pt>
                <c:pt idx="3">
                  <c:v>42.13</c:v>
                </c:pt>
                <c:pt idx="4">
                  <c:v>65.72</c:v>
                </c:pt>
                <c:pt idx="5">
                  <c:v>89.55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inato-sudo/deep-learning-assignment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6.11239" TargetMode="External"/><Relationship Id="rId2" Type="http://schemas.openxmlformats.org/officeDocument/2006/relationships/hyperlink" Target="https://arxiv.org/abs/2010.02502" TargetMode="External"/><Relationship Id="rId3" Type="http://schemas.openxmlformats.org/officeDocument/2006/relationships/hyperlink" Target="https://arxiv.org/abs/2303.01469" TargetMode="External"/><Relationship Id="rId4" Type="http://schemas.openxmlformats.org/officeDocument/2006/relationships/hyperlink" Target="https://arxiv.org/abs/2206.00364" TargetMode="External"/><Relationship Id="rId5" Type="http://schemas.openxmlformats.org/officeDocument/2006/relationships/hyperlink" Target="https://arxiv.org/abs/2102.09672" TargetMode="External"/><Relationship Id="rId6" Type="http://schemas.openxmlformats.org/officeDocument/2006/relationships/hyperlink" Target="https://arxiv.org/abs/2112.10752" TargetMode="External"/><Relationship Id="rId7" Type="http://schemas.openxmlformats.org/officeDocument/2006/relationships/hyperlink" Target="https://arxiv.org/abs/2104.11222" TargetMode="External"/><Relationship Id="rId8" Type="http://schemas.openxmlformats.org/officeDocument/2006/relationships/hyperlink" Target="https://github.com/huggingface/diffusers" TargetMode="External"/><Relationship Id="rId9" Type="http://schemas.openxmlformats.org/officeDocument/2006/relationships/hyperlink" Target="https://github.com/hojonathanho/diffusion" TargetMode="External"/><Relationship Id="rId10" Type="http://schemas.openxmlformats.org/officeDocument/2006/relationships/hyperlink" Target="https://github.com/Minato-sudo/deep-learning-assignment2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inato-sudo/deep-learning-assignment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Extending Diffusion Models: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Reproducibility, Inference Optimization,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and Cross-Domain Generalization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32004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786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Denoising Diffusion Probabilistic Models (DDPM) on CIFAR-10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Zain Shahid  (23i-2582)    |    Muhammad Talha Arshad  (23i-2548)    |    Sanaullah Farooqi  (23i-2594)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CS-4112 Deep Learning  •  FAST-NUCES Islamabad  •  April 2026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93C5FD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github.com/Minato-sudo/deep-learning-assignment2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Following the standard research presentation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20624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972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Background and motivation for diffusion model research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420624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1031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Challenges in existing slow diffusion sampling methods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20624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108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Aims and Objectives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What we set out to achieve across Assignments 1, 2, and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420624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1148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Literature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462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DDPM, DDIM, EDM, Consistency Models — key papers reviewed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51560"/>
            <a:ext cx="420624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972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4924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Contributions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Our original research contributions from A2 and A3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057400"/>
            <a:ext cx="420624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1031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4924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Proposed Methodology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DDPM reproduction + three experimental extensions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20624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108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Performance Evaluation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FID results, ablation tables, plots, and visual grids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069080"/>
            <a:ext cx="4206240" cy="841248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1148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49240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4462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Key findings, insights, and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Introduction: Background and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What are Diffusion Models?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 class of generative AI models that learn to create realistic images from pure random noise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Work by reversing a gradual noising process — like gradually cleaning a blurry photo step by step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More stable than GANs (no adversarial training) and produce diverse, high-quality outputs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DDPM (Ho et al., NeurIPS 2020) achieves FID 3.17 on CIFAR-10 — state-of-the-art at the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Why This Research?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703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DDPM requires 1000 sequential neural network evaluations — very slow for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Faster sampling (DDIM) exists but its optimal configuration is not well characterized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Can pre-trained weights generalize beyond the training domain?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291840" cy="397764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DDPM Framework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292608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IMAGE x₀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7190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32x32 CIFAR-10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19842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2148840"/>
            <a:ext cx="292608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FORWARD PROCESS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24048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Add noise over T=1000 steps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26700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2834640"/>
            <a:ext cx="2926080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PURE NOISE 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0906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Gaussian noise ~N(0,I)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33558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3520440"/>
            <a:ext cx="292608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REVERSE PROCESS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37764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U-Net denoises step by step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0" y="40416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4206240"/>
            <a:ext cx="292608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GENERATED IMAGE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44622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New realistic image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Challenges in state-of-art diffusion model sampling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73152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Slow Inference (1000 steps)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DDPM requires 1000 sequential forward passes through a U-Net. On a laptop GPU this takes minutes per batch — completely impractical for real-time applications.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792224"/>
            <a:ext cx="73152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92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Quality-Speed Tradeoff Unknown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DDIM reduces steps but it is not known how few steps are sufficient. The relationship between step count and FID quality has not been fully characterized.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596896"/>
            <a:ext cx="73152" cy="6400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9689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Stochasticity Effect Unexplored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88950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DDIM's eta parameter controls randomness (0=deterministic, 1=stochastic). The practical effect of different eta values on generation quality under a fixed step budget is unknown.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401568"/>
            <a:ext cx="73152" cy="6400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015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Cross-Domain Generalization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69417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Diffusion models are trained on specific datasets. Whether pre-trained weights generalize to unseen image domains (e.g., faces vs objects) without fine-tuning is not established.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206240"/>
            <a:ext cx="73152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06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Reproducibility Infrastructure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4988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Official model checkpoints are deleted without notice (Consistency Models — HTTP 404). GPU hardware incompatibilities block standard setups. Real-world reproducibility is fragile.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Aims and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What we set out to achieve across Assignments 1, 2 and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868680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A1: Paper Understanding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Thoroughly understand DDPM (Ho et al., 2020), DDIM, Consistency Models (ICML 2023), and EDM (NeurIPS 2022). Identify feasible baselines for a laptop GPU.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810512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47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A2: Reproduce DDPM Results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396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Successfully reproduce the DDPM pipeline on CIFAR-10 using official pre-trained weights. Compute FID scores for DDPM (1000 steps), DDIM (10 steps), and DDIM (1 step). Document all challenges honestly.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615184"/>
            <a:ext cx="868680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A3 — Objective 1: Optimal Steps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44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Determine the optimal number of DDIM inference steps by sweeping 9 configurations (1 to 1000 steps) with eta=0 fixed, fully characterizing the quality-speed tradeoff curve.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419856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A3 — Objective 2: Eta Effect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Characterize the practical effect of the DDIM stochasticity parameter (eta) on image quality under a fixed 10-step budget by sweeping 5 eta values from 0 to 1.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224528"/>
            <a:ext cx="8686800" cy="71323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611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✓  A3 — Objective 3: Cross-Domain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Evaluate whether pre-trained DDPM weights generalize to an unseen image domain (CelebA-HQ 256x256 human faces) using a separate official checkpoint.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Key papers studied and their relevance to our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87552"/>
            <a:ext cx="1005840" cy="21945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8755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98448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[1] DDPM — Ho et al., NeurIPS 2020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3350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Introduces iterative denoising with a U-Net and simplified MSE loss. CIFAR-10: FID 3.17, IS 9.46. Official code: github.com/hojonathanho/diffusion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801368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801368"/>
            <a:ext cx="1005840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8013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98448" y="1819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[2] DDIM — Song et al., ICLR 2021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1488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Non-Markovian sampler enabling deterministic generation in 10-50 steps. Parameter eta controls stochasticity (0=deterministic, 1=DDPM-equivalent).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615184"/>
            <a:ext cx="1005840" cy="21945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61518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98448" y="2633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[3] Consistency Models — Song et al., ICML 2023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296265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Single-step generation via self-consistency along the ODE. CIFAR-10: FID 3.55 (1 step). Official checkpoint DELETED by OpenAI — documented as reproducibility failure.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429000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429000"/>
            <a:ext cx="10058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4290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98448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[4] EDM — Karras et al., NeurIPS 2022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37764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Analyzes design choices: noise schedules, preconditioning, Heun ODE solver. Achieves FID 1.97 on CIFAR-10 in only 35 steps. Explains why 1st-order Euler accumulates errors.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242816"/>
            <a:ext cx="868680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242816"/>
            <a:ext cx="1005840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24281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RELATED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98448" y="4261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[5] Improved DDPM — Nichol &amp; Dhariwal, ICML 2021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459028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Learned variance schedules + cosine noise schedule → FID 2.90. Motivates training-side improvements.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Original research contributions across Assignments 2 and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8686800" cy="89611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73152" cy="8961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1.  Fully Documented DDPM Reproduction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Successfully reproduced DDPM on CIFAR-10 with FID 20.91 (5k samples) despite 7 distinct infrastructure challenges including GPU incompatibility, deleted checkpoints, and power failures. Every challenge, failed attempt, and solution is documented.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011680"/>
            <a:ext cx="8686800" cy="896112"/>
          </a:xfrm>
          <a:prstGeom prst="rect">
            <a:avLst/>
          </a:prstGeom>
          <a:solidFill>
            <a:srgbClr val="F3F4F6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11680"/>
            <a:ext cx="73152" cy="89611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574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2.  Empirical Identification of Optimal DDIM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Through a 9-configuration sweep, we identified 200 steps as the optimal configuration (FID 42.13) and established that 50 steps achieves 94% of peak quality at 20% of the computational cost — a practical deployment recommendation.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8686800" cy="896112"/>
          </a:xfrm>
          <a:prstGeom prst="rect">
            <a:avLst/>
          </a:prstGeom>
          <a:solidFill>
            <a:srgbClr val="F3F4F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017520"/>
            <a:ext cx="73152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6324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3.  Discovery of Eta Phase Transition at 0.5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4015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We empirically characterized for the first time that DDIM quality is stable for eta from 0 to 0.5 (less than 0.5% FID change) with a sharp phase-transition degradation above 0.5 (9.7% jump), providing concrete guidance not present in the original DDIM paper.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023360"/>
            <a:ext cx="8686800" cy="896112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023360"/>
            <a:ext cx="73152" cy="8961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6908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4.  Cross-Domain Generalization Evidence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4074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We demonstrated that pre-trained DDPM weights generalize meaningfully to human face synthesis at 256x256 resolution (intra-FID 59.34, 244 diverse faces) without any fine-tuning, confirming the domain-agnostic nature of the DDPM denoising prior.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Experimental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Hardware, software, datasets and real-world challenges encountered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932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Hardware &amp; Software Configuration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61872"/>
          <a:ext cx="4114800" cy="25603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GPU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NVIDIA RTX 5050 Laptop (8GB, sm_120)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CPU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Intel Core i7, 16 threads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16GB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Kubuntu Linux (Ubuntu 24.04)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PyTorch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2.12.0 nightly +cu128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Python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3.12.3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diffusers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0.33.1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clean-fid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2860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Datasets &amp; Evaluation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" y="422452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CIFAR-10: 10,000 real images as FID reference | 5,000 generated per config (A2) | 1,000 per config (A3)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CelebA-HQ 256x256: 244 generated images over 7 hours | google/ddpm-celebahq-256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Metric: FID via clean-fid (InceptionV3 features) | Intra-FID for cross-domain diversity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0" y="93268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 Real-World Challenges Encountered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298448"/>
            <a:ext cx="4343400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298448"/>
            <a:ext cx="347472" cy="4937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129844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74336" y="132588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GPU Incompatibility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74336" y="15453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RTX 5050 Blackwell (sm_120) not supported by stable PyTorch → nightly cu128 build required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0" y="1847088"/>
            <a:ext cx="434340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0" y="1847088"/>
            <a:ext cx="347472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184708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74336" y="18745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Baseline Reassignment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74336" y="209397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SDXL infeasible on laptop GPU + survey paper had no code → switched to DDPM/DDIM/EDM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0" y="2395728"/>
            <a:ext cx="4343400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2395728"/>
            <a:ext cx="347472" cy="4937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239572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C3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74336" y="242316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Deleted Checkpoints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74336" y="264261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Consistency Models checkpoint permanently deleted by OpenAI (HTTP 404) — 3 days spent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0" y="2944368"/>
            <a:ext cx="434340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2944368"/>
            <a:ext cx="347472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0" y="294436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74336" y="297180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Power Interruption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74336" y="319125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Laptop shut down mid-generation (4500 of 5000 done) → resumed via kill -CONT, PIL verify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0" y="3493008"/>
            <a:ext cx="4343400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0" y="3493008"/>
            <a:ext cx="347472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0" y="349300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74336" y="352044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Duplicate Process Race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974336" y="37398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Two instances of generator ran simultaneously → race condition on same output folder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0" y="4041648"/>
            <a:ext cx="434340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0" y="4041648"/>
            <a:ext cx="347472" cy="4937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0" y="404164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974336" y="406908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CelebA Generation Time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974336" y="42885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90 sec/image at 256x256 → 7 hours continuous GPU for only 244 images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0" y="4590288"/>
            <a:ext cx="4343400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0" y="4590288"/>
            <a:ext cx="347472" cy="4937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0" y="459028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C7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974336" y="46177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FID Reference Stats 404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974336" y="483717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clean-fid CelebA-HQ stats unavailable (HTTP 404) → used intra-FID as diversity metric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DDPM Architecture and Reproduction 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U-Net Architecture (DDPM Backbone)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Encoder-decoder with symmetric skip connections at each resolution 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Residual blocks with Group Normalization at each spatial scale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Self-attention layers at 16x16 spatial resolution for global context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Sinusoidal timestep embeddings injected at every residual block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Linear noise schedule: β from 0.0001 to 0.02 over T=1000 steps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Input/output: 32x32x3 (CIFAR-10)  |  256x256x3 (CelebA-HQ)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Reproduction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7490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Checkpoint: google/ddpm-cifar10-32 (HuggingFace)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Library: HuggingFace diffusers 0.33.1 — DDPMPipeline and DDIMPipeline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Same U-Net weights used for all experiments — only scheduler changes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FID evaluation: clean-fid library with InceptionV3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822960"/>
            <a:ext cx="329184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Three Experiments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37160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371600"/>
            <a:ext cx="594360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37160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426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DDIM Step Ablation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719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Steps: 1, 5, 10, 20, 50, 100, 200, 500, 1000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Fixed eta=0   |   1000 samples each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256032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2560320"/>
            <a:ext cx="59436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5603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6151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Eta Parameter Study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907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Eta: 0.0, 0.25, 0.5, 0.75, 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Fixed 10 steps   |   1000 samples each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374904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3749040"/>
            <a:ext cx="594360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7490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803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Cross-Domain (CelebA)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0965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Model: google/ddpm-celebahq-256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256x256   |   244 images   |   7 hours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Evaluation: Assignment 2 Reproduction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CIFAR-10 FID results — 5000 generated samples per configuration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4937760" cy="1325880"/>
        </p:xfrm>
        <a:graphic>
          <a:graphicData uri="http://schemas.openxmlformats.org/drawingml/2006/table">
            <a:tbl>
              <a:tblPr/>
              <a:tblGrid>
                <a:gridCol w="987552"/>
                <a:gridCol w="987552"/>
                <a:gridCol w="987552"/>
                <a:gridCol w="987552"/>
                <a:gridCol w="9875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Steps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Paper 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Our 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DDPM (Ho et al.)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20.91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Reproduced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DDIM (eta=0)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38.69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DDIM (eta=0)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462.11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2395728"/>
            <a:ext cx="493776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395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Why is Our FID Higher Than the Paper?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2724912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Sample size: We used 5,000 vs paper's 50,000 — FID variance is higher with fewer samples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Reference set: 10,000 real images vs paper's 50,000 training images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Evaluation protocol: slight preprocessing differences in clean-fid vs original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The trend (more steps = better quality) is fully consistent with the paper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914400"/>
            <a:ext cx="3566160" cy="22128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314553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Fig 1. A2 FID Comparison — Our results vs paper FID 3.17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349240" y="34015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Sample Image Grids (32x32 CIFAR-10)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675888"/>
            <a:ext cx="841248" cy="8412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9240" y="453542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Real</a:t>
            </a:r>
            <a:endParaRPr lang="en-US" sz="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675888"/>
            <a:ext cx="841248" cy="8412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54496" y="453542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DDPM FID 20.91</a:t>
            </a:r>
            <a:endParaRPr lang="en-US" sz="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3675888"/>
            <a:ext cx="841248" cy="8412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9752" y="453542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DDIM FID 38.69</a:t>
            </a:r>
            <a:endParaRPr lang="en-US" sz="7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3675888"/>
            <a:ext cx="841248" cy="8412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65008" y="453542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DDIM FID 462.11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Evaluation: Experiment 1 — DDIM Step Ablation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9 configurations, eta=0, 1000 samples per config, CIFAR-10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3291840" cy="41148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Steps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vs Best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468.11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+1011%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95.64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+127%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64.07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+52%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51.94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+23%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45.11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42.74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42.13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BEST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44.02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60.55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+44%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868680"/>
            <a:ext cx="52120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3320" y="4133088"/>
            <a:ext cx="5212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Key Findings: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Best FID at 200 steps (42.13) — NOT at 1000 steps.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Degradation at 1000 steps (FID 60.55) caused by first-order Euler ODE discretization error accumulation. </a:t>
            </a:r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50 steps achieves 94% of optimal quality at only 20% of computation cost.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Evaluation: Experiment 2 — Eta Parameter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5 eta values, fixed 10 steps, 1000 samples per config, CIFAR-10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11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4206240" cy="29260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65.72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Fully Deterministic ← BEST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65.90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Mostly Deterministic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66.05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Mixed — Stable Zone Boundary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0.75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72.54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Mostly Stochastic ← Phase Transition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89.55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Fully Stochastic — Worst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868680"/>
            <a:ext cx="429768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3977640"/>
            <a:ext cx="86868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04164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STABLE ZONE (eta 0.0–0.5):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FID changes by only 0.33 (less than 0.5%) — practitioners can use any eta up to 0.5 without quality loss.  </a:t>
            </a:r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PHASE TRANSITION at eta 0.5: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9.7% FID jump between 0.5 and 0.75. Full stochasticity (eta=1.0) degrades FID by 36% vs deterministic — this phase transition was not described in the original DDIM paper.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Evaluation: Experiment 3 — Cross-Domain Generalization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CelebA-HQ 256x256 human face images | google/ddpm-celebahq-256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3840480" cy="38862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Model checkpoint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google/ddpm-celebahq-256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256x256 pixels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Inference steps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1000 (full DDPM)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Batch size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 (8GB VRAM constraint)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Time per image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~90 seconds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Total GPU time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~7 hours continuous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Images generated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Intra-FID (diversity)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</a:rPr>
                        <a:t>59.34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Literature FID range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29.76 to 40.26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53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Reference stats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Unavailable (HTTP 404)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4709160" cy="3657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6240" y="4590288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Fig. Generated CelebA-HQ faces — diverse identity, pose, lighting, skin tone. Intra-FID 59.34 confirms no mode collapse.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Overall Performance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A2 baselines vs A3 experiments — all configurations compared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13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1440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73152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13441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DDPM-1000 (20.91)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10528" y="1600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Best overall — full stochastic sampling wins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55080" y="2029968"/>
            <a:ext cx="73152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20482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DDIM-200 (42.13)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10528" y="2304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Optimal deterministic — 5x fewer steps than DDPM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55080" y="2734056"/>
            <a:ext cx="73152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275234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DDIM-50 (45.11)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0528" y="30083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Practical sweet spot — 20x faster than 1000 steps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3438144"/>
            <a:ext cx="7315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3456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eta=0 vs eta=1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10528" y="37124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36% FID gap — deterministic clearly superior at 10 steps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55080" y="4142232"/>
            <a:ext cx="73152" cy="548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0528" y="4160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DDIM-1 (462.11)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10528" y="44165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Single step completely fails — insufficient denoising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Why results improved or failed, limitations, and key insights gained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Why DDIM Degrades at 1000 Steps?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Counterintuitive: more steps should mean finer denoising, yet FID rises from 42.13 (200 steps) to 60.55 (1000 steps) — a 44% degradation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Cause: DDIM with eta=0 follows a deterministic probability flow ODE solved by a first-order Euler integrator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Each Euler step introduces a small local truncation error — over 1000 steps these compound into a systematic bias that FID detects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Karras et al. (EDM) confirmed this: higher-order Heun solvers eliminate the error. Our results empirically validate this without changing model weights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" y="3200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Eta Phase Transition at 0.5 — Practical Implication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35204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Stable zone (eta 0.0–0.5): FID changes by only 0.33 — less than 0.5%. Applications needing diverse outputs can use any eta up to 0.5 safely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Phase transition above 0.5: 9.7% FID jump between 0.5 and 0.75, then 23% more to 1.0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Not described in original DDIM paper — original empirical finding of this project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Practical rule: use eta=0 for best quality; up to eta=0.5 for diversity; never exceed 0.5 in production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FID Gap Analysis (Why Our FID &gt; Paper?)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4160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Paper used 50,000 generated samples; ours used 5,000 — FID variance is inversely proportional to sample count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Paper used all 50,000 training images as reference; ours used 10,000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Minor preprocessing differences in clean-fid vs original TensorFlow evaluation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Reproduction is functionally correct: qualitative grids show recognizable objects, trends match paper exactly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9992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310128"/>
            <a:ext cx="416052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Sample size: A3 CIFAR-10 experiments use 1,000 samples — higher variance than A2's 5,000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Cross-domain: 244 CelebA images too few for reliable absolute FID — intra-FID used instead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No higher-order ODE solvers tested — verifying discretization error hypothesis fully requires Heun implementation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No retraining: all work is inference-time only — training-side improvements (EDM preconditioning, cosine schedules) not explored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Infrastructure fragility: Consistency Models checkpoint deleted, CelebA FID stats unavailable — real reproducibility is fragile in modern ML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25603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77240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77240"/>
            <a:ext cx="73152" cy="1170432"/>
          </a:xfrm>
          <a:prstGeom prst="rect">
            <a:avLst/>
          </a:prstGeom>
          <a:solidFill>
            <a:srgbClr val="04785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Optimal DDIM Steps = 200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2527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Beyond 200 steps, FID degrades 44% due to first-order ODE discretization error accumulation.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075688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075688"/>
            <a:ext cx="73152" cy="1170432"/>
          </a:xfrm>
          <a:prstGeom prst="rect">
            <a:avLst/>
          </a:prstGeom>
          <a:solidFill>
            <a:srgbClr val="6B728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167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Deterministic Sampling Wins (eta=0)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551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36% FID advantage over full stochastic at 10 steps. Phase transition degradation above eta=0.5.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374136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3374136"/>
            <a:ext cx="73152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4655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 Steps = Practical Sweet Spot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384962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94% of optimal quality at only 20% of 1000-step computation cost — concrete deployment rule.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777240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777240"/>
            <a:ext cx="73152" cy="1170432"/>
          </a:xfrm>
          <a:prstGeom prst="rect">
            <a:avLst/>
          </a:prstGeom>
          <a:solidFill>
            <a:srgbClr val="6B728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Cross-Domain Transfer Confirmed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12527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DDPM weights generalize to CelebA-HQ 256x256 faces. Intra-FID 59.34 confirms diverse outputs.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075688"/>
            <a:ext cx="4160520" cy="1170432"/>
          </a:xfrm>
          <a:prstGeom prst="rect">
            <a:avLst/>
          </a:prstGeom>
          <a:solidFill>
            <a:srgbClr val="2D3748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075688"/>
            <a:ext cx="73152" cy="1170432"/>
          </a:xfrm>
          <a:prstGeom prst="rect">
            <a:avLst/>
          </a:prstGeom>
          <a:solidFill>
            <a:srgbClr val="04785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167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Real-World Challenges Documented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2551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GPU incompatibility, deleted checkpoints, power failures, race conditions — all resolved and recorded.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4645152"/>
            <a:ext cx="854964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</a:rPr>
              <a:t>Future Work:  Higher-order ODE solvers  •  Full 2D (steps, eta) quality surface  •  Cross-domain LSUN/ImageNet  •  Training-side improvements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All papers, datasets, libraries and code repositories cited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7EB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96012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601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[1]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9966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Ho, J., Jain, A., &amp; Abbeel, P. (2020). Denoising Diffusion Probabilistic Models. NeurIPS, 33, 6840-6851.</a:t>
            </a:r>
            <a:endParaRPr lang="en-US" sz="85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85216" y="14173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arxiv.org/abs/2006.11239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78308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78308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7830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[2]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" y="18196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Song, J., Meng, C., &amp; Ermon, S. (2021). Denoising Diffusion Implicit Models. ICLR.</a:t>
            </a:r>
            <a:endParaRPr lang="en-US" sz="85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585216" y="22402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arxiv.org/abs/2010.02502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60604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60604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6060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[3]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26426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Song, Y., Dhariwal, P., Chen, M., &amp; Sutskever, I. (2023). Consistency Models. ICML.</a:t>
            </a:r>
            <a:endParaRPr lang="en-US" sz="850" dirty="0"/>
          </a:p>
        </p:txBody>
      </p:sp>
      <p:sp>
        <p:nvSpPr>
          <p:cNvPr id="21" name="Text 19">
            <a:hlinkClick r:id="rId3" tooltip=""/>
          </p:cNvPr>
          <p:cNvSpPr/>
          <p:nvPr/>
        </p:nvSpPr>
        <p:spPr>
          <a:xfrm>
            <a:off x="585216" y="3063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arxiv.org/abs/2303.01469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42900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42900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42900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[4]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" y="34655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Karras, T., Aittala, M., Aila, T., &amp; Laine, S. (2022). Elucidating the Design Space of Diffusion-Based Generative Models. NeurIPS.</a:t>
            </a:r>
            <a:endParaRPr lang="en-US" sz="850" dirty="0"/>
          </a:p>
        </p:txBody>
      </p:sp>
      <p:sp>
        <p:nvSpPr>
          <p:cNvPr id="26" name="Text 24">
            <a:hlinkClick r:id="rId4" tooltip=""/>
          </p:cNvPr>
          <p:cNvSpPr/>
          <p:nvPr/>
        </p:nvSpPr>
        <p:spPr>
          <a:xfrm>
            <a:off x="585216" y="3886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arxiv.org/abs/2206.00364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425196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425196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25196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[5]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5216" y="42885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Nichol, A. Q., &amp; Dhariwal, P. (2021). Improved Denoising Diffusion Probabilistic Models. ICML.</a:t>
            </a:r>
            <a:endParaRPr lang="en-US" sz="850" dirty="0"/>
          </a:p>
        </p:txBody>
      </p:sp>
      <p:sp>
        <p:nvSpPr>
          <p:cNvPr id="31" name="Text 29">
            <a:hlinkClick r:id="rId5" tooltip=""/>
          </p:cNvPr>
          <p:cNvSpPr/>
          <p:nvPr/>
        </p:nvSpPr>
        <p:spPr>
          <a:xfrm>
            <a:off x="585216" y="47091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arxiv.org/abs/2102.09672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96012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96012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9601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[6]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65776" y="9966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Rombach, R. et al. (2022). High-Resolution Image Synthesis with Latent Diffusion Models. CVPR.</a:t>
            </a:r>
            <a:endParaRPr lang="en-US" sz="850" dirty="0"/>
          </a:p>
        </p:txBody>
      </p:sp>
      <p:sp>
        <p:nvSpPr>
          <p:cNvPr id="36" name="Text 34">
            <a:hlinkClick r:id="rId6" tooltip=""/>
          </p:cNvPr>
          <p:cNvSpPr/>
          <p:nvPr/>
        </p:nvSpPr>
        <p:spPr>
          <a:xfrm>
            <a:off x="5065776" y="14173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arxiv.org/abs/2112.10752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78308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78308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7830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[7]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65776" y="18196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Parmar, G., Zhang, R., &amp; Zhu, J. Y. (2022). On Aliased Resizing in GAN Evaluation. CVPR.</a:t>
            </a:r>
            <a:endParaRPr lang="en-US" sz="850" dirty="0"/>
          </a:p>
        </p:txBody>
      </p:sp>
      <p:sp>
        <p:nvSpPr>
          <p:cNvPr id="41" name="Text 39">
            <a:hlinkClick r:id="rId7" tooltip=""/>
          </p:cNvPr>
          <p:cNvSpPr/>
          <p:nvPr/>
        </p:nvSpPr>
        <p:spPr>
          <a:xfrm>
            <a:off x="5065776" y="22402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arxiv.org/abs/2104.11222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60604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[8]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65776" y="26426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von Platen, P. et al. (2022). Diffusers: State-of-the-art Diffusion Models. HuggingFace.</a:t>
            </a:r>
            <a:endParaRPr lang="en-US" sz="850" dirty="0"/>
          </a:p>
        </p:txBody>
      </p:sp>
      <p:sp>
        <p:nvSpPr>
          <p:cNvPr id="46" name="Text 44">
            <a:hlinkClick r:id="rId8" tooltip=""/>
          </p:cNvPr>
          <p:cNvSpPr/>
          <p:nvPr/>
        </p:nvSpPr>
        <p:spPr>
          <a:xfrm>
            <a:off x="5065776" y="3063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github.com/huggingface/diffusers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429000"/>
            <a:ext cx="4251960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42900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42900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[9]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65776" y="34655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Ho, J. et al. Official DDPM TensorFlow Code Repository (original authors).</a:t>
            </a:r>
            <a:endParaRPr lang="en-US" sz="850" dirty="0"/>
          </a:p>
        </p:txBody>
      </p:sp>
      <p:sp>
        <p:nvSpPr>
          <p:cNvPr id="51" name="Text 49">
            <a:hlinkClick r:id="rId9" tooltip=""/>
          </p:cNvPr>
          <p:cNvSpPr/>
          <p:nvPr/>
        </p:nvSpPr>
        <p:spPr>
          <a:xfrm>
            <a:off x="5065776" y="3886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github.com/hojonathanho/diffusion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4251960"/>
            <a:ext cx="425196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4251960"/>
            <a:ext cx="347472" cy="7498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425196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[10]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65776" y="42885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Our Project Repository — Code, Logs, Results, Reports. FAST-NUCES DS Group.</a:t>
            </a:r>
            <a:endParaRPr lang="en-US" sz="850" dirty="0"/>
          </a:p>
        </p:txBody>
      </p:sp>
      <p:sp>
        <p:nvSpPr>
          <p:cNvPr id="56" name="Text 54">
            <a:hlinkClick r:id="rId10" tooltip=""/>
          </p:cNvPr>
          <p:cNvSpPr/>
          <p:nvPr/>
        </p:nvSpPr>
        <p:spPr>
          <a:xfrm>
            <a:off x="5065776" y="47091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D4ED8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github.com/Minato-sudo/deep-learning-assignment2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For Any Query,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Feel Free to Ask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2004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5915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Zain Shahid  (23i-2582)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Muhammad Talha Arshad  (23i-2548)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Sanaullah Farooqi  (23i-2594)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CS-4112 Deep Learning  •  FAST-NUCES Islamabad  •  April 2026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3C5FD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github.com/Minato-sudo/deep-learning-assignment2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Click the link above to open the project repository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Extending DDPM: Reproducibility and Inference Optimization</dc:title>
  <dc:subject>PptxGenJS Presentation</dc:subject>
  <dc:creator>PptxGenJS</dc:creator>
  <cp:lastModifiedBy>PptxGenJS</cp:lastModifiedBy>
  <cp:revision>1</cp:revision>
  <dcterms:created xsi:type="dcterms:W3CDTF">2026-05-03T16:23:02Z</dcterms:created>
  <dcterms:modified xsi:type="dcterms:W3CDTF">2026-05-03T16:23:02Z</dcterms:modified>
</cp:coreProperties>
</file>